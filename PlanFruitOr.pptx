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7" r:id="rId1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2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6003E1-D845-41A1-A56D-52E4B05077DB}">
  <a:tblStyle styleId="{766003E1-D845-41A1-A56D-52E4B05077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C6CFBDF-0887-438A-9E35-7A811A1863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01" autoAdjust="0"/>
  </p:normalViewPr>
  <p:slideViewPr>
    <p:cSldViewPr snapToGrid="0">
      <p:cViewPr varScale="1">
        <p:scale>
          <a:sx n="144" d="100"/>
          <a:sy n="144" d="100"/>
        </p:scale>
        <p:origin x="65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87267445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87267445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79de754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79de754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64c014d2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64c014d29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88abcf97ef_3_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88abcf97ef_3_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8726744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8726744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887267445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887267445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87267445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87267445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19679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887267445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887267445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fr" dirty="0"/>
              <a:t>5x comité directeur(12), 1x mandataire projet(30), 1x PM(90), 1x resp. TI(60), 1x resp. QA(10), 1x equipe pilotage(30), 3x super utilisateurs de modules(228), 3x Ressource Supplémentaire(228) = 20 x 1728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fr" dirty="0"/>
              <a:t>2x expert technique(228), 1x analyste affaires(228), 1x architecte(57), 1x formateur (3) = 4 x 765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305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627" y="1272235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18" name="Google Shape;26;p4">
            <a:extLst>
              <a:ext uri="{FF2B5EF4-FFF2-40B4-BE49-F238E27FC236}">
                <a16:creationId xmlns:a16="http://schemas.microsoft.com/office/drawing/2014/main" id="{0CF0C03E-5609-4FD4-9BE1-2B7248FF9AB7}"/>
              </a:ext>
            </a:extLst>
          </p:cNvPr>
          <p:cNvGrpSpPr/>
          <p:nvPr userDrawn="1"/>
        </p:nvGrpSpPr>
        <p:grpSpPr>
          <a:xfrm>
            <a:off x="830392" y="1198825"/>
            <a:ext cx="745763" cy="45826"/>
            <a:chOff x="4580561" y="2589004"/>
            <a:chExt cx="1064464" cy="25200"/>
          </a:xfrm>
          <a:solidFill>
            <a:srgbClr val="9D2235"/>
          </a:solidFill>
        </p:grpSpPr>
        <p:sp>
          <p:nvSpPr>
            <p:cNvPr id="19" name="Google Shape;27;p4">
              <a:extLst>
                <a:ext uri="{FF2B5EF4-FFF2-40B4-BE49-F238E27FC236}">
                  <a16:creationId xmlns:a16="http://schemas.microsoft.com/office/drawing/2014/main" id="{4BBBBB00-7733-4ADE-9D5B-571F416ADF60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;p4">
              <a:extLst>
                <a:ext uri="{FF2B5EF4-FFF2-40B4-BE49-F238E27FC236}">
                  <a16:creationId xmlns:a16="http://schemas.microsoft.com/office/drawing/2014/main" id="{852717DD-11E3-45DF-AB1E-2201017EA302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  <a:solidFill>
            <a:srgbClr val="9D2235"/>
          </a:solidFill>
        </p:grpSpPr>
        <p:sp>
          <p:nvSpPr>
            <p:cNvPr id="27" name="Google Shape;27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3849" t="31046" r="-3849" b="29055"/>
          <a:stretch/>
        </p:blipFill>
        <p:spPr>
          <a:xfrm>
            <a:off x="7683921" y="64837"/>
            <a:ext cx="1532650" cy="35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729450" y="1093850"/>
            <a:ext cx="7688100" cy="8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Projet d’i</a:t>
            </a:r>
            <a:r>
              <a:rPr lang="fr" dirty="0"/>
              <a:t>mplantation d’u</a:t>
            </a:r>
            <a:r>
              <a:rPr lang="fr-CA" dirty="0"/>
              <a:t>n </a:t>
            </a:r>
            <a:r>
              <a:rPr lang="fr" dirty="0"/>
              <a:t>PGI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29450" y="2613476"/>
            <a:ext cx="8414550" cy="10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rtl="0">
              <a:buNone/>
            </a:pPr>
            <a:r>
              <a:rPr lang="fr-CA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Présentée par:</a:t>
            </a:r>
            <a:r>
              <a:rPr lang="fr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Dante Enrique Escobar Espinoza </a:t>
            </a:r>
            <a:endParaRPr sz="13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Alex Faucher </a:t>
            </a:r>
            <a:endParaRPr sz="13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Vincent Sergerie</a:t>
            </a:r>
            <a:endParaRPr sz="13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" sz="1300" dirty="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rPr>
              <a:t>Gabrielle Violette</a:t>
            </a:r>
            <a:endParaRPr sz="13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Google Shape;17;p2">
            <a:extLst>
              <a:ext uri="{FF2B5EF4-FFF2-40B4-BE49-F238E27FC236}">
                <a16:creationId xmlns:a16="http://schemas.microsoft.com/office/drawing/2014/main" id="{B9E40984-1793-42CE-8B4C-DD865511A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6659" b="25494"/>
          <a:stretch/>
        </p:blipFill>
        <p:spPr>
          <a:xfrm>
            <a:off x="6086645" y="4163614"/>
            <a:ext cx="3057355" cy="8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6681F-EC86-405A-A415-3791EEBF07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</a:t>
            </a:fld>
            <a:endParaRPr lang="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Mandat</a:t>
            </a:r>
            <a:endParaRPr dirty="0"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dirty="0">
                <a:solidFill>
                  <a:schemeClr val="bg2"/>
                </a:solidFill>
              </a:rPr>
              <a:t>Réaliser un plan d’implantation pour trois modules: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grand livre;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planification de la production;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service et maintenance</a:t>
            </a:r>
            <a:endParaRPr sz="1400"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fr" sz="1400" dirty="0">
                <a:solidFill>
                  <a:schemeClr val="bg2"/>
                </a:solidFill>
              </a:rPr>
              <a:t>d’un PGI, par le service interne, afin de supporter les objectifs d’affaires de l’entreprise.</a:t>
            </a:r>
            <a:endParaRPr sz="1400" dirty="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C6671-E522-4555-9E27-3AB167D1ED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</a:t>
            </a:fld>
            <a:endParaRPr lang="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Agenda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Structure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Étapes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Communication et gestion du changement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Formation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Mise en production et soutien à la production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Risques et mitigations</a:t>
            </a:r>
            <a:endParaRPr sz="1400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 dirty="0">
                <a:solidFill>
                  <a:schemeClr val="bg2"/>
                </a:solidFill>
              </a:rPr>
              <a:t>Coûts</a:t>
            </a:r>
            <a:endParaRPr sz="1400" dirty="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A9D203-D2B2-4A0A-B033-5FB95393A1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3</a:t>
            </a:fld>
            <a:endParaRPr lang="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Structure du proje</a:t>
            </a:r>
            <a:r>
              <a:rPr lang="fr-CA" dirty="0"/>
              <a:t>t</a:t>
            </a:r>
            <a:endParaRPr dirty="0"/>
          </a:p>
        </p:txBody>
      </p:sp>
      <p:cxnSp>
        <p:nvCxnSpPr>
          <p:cNvPr id="107" name="Google Shape;107;p16"/>
          <p:cNvCxnSpPr>
            <a:cxnSpLocks/>
            <a:stCxn id="108" idx="6"/>
            <a:endCxn id="109" idx="2"/>
          </p:cNvCxnSpPr>
          <p:nvPr/>
        </p:nvCxnSpPr>
        <p:spPr>
          <a:xfrm flipV="1">
            <a:off x="1220832" y="2876545"/>
            <a:ext cx="908916" cy="152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16"/>
          <p:cNvCxnSpPr>
            <a:cxnSpLocks/>
            <a:stCxn id="111" idx="3"/>
            <a:endCxn id="112" idx="2"/>
          </p:cNvCxnSpPr>
          <p:nvPr/>
        </p:nvCxnSpPr>
        <p:spPr>
          <a:xfrm flipV="1">
            <a:off x="3280835" y="1782854"/>
            <a:ext cx="1192760" cy="113058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6"/>
          <p:cNvCxnSpPr>
            <a:cxnSpLocks/>
            <a:stCxn id="111" idx="3"/>
            <a:endCxn id="114" idx="2"/>
          </p:cNvCxnSpPr>
          <p:nvPr/>
        </p:nvCxnSpPr>
        <p:spPr>
          <a:xfrm>
            <a:off x="3280835" y="2913441"/>
            <a:ext cx="1192760" cy="9137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6"/>
          <p:cNvCxnSpPr>
            <a:cxnSpLocks/>
            <a:stCxn id="111" idx="3"/>
            <a:endCxn id="116" idx="2"/>
          </p:cNvCxnSpPr>
          <p:nvPr/>
        </p:nvCxnSpPr>
        <p:spPr>
          <a:xfrm>
            <a:off x="3280835" y="2913441"/>
            <a:ext cx="1192760" cy="67292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6"/>
          <p:cNvCxnSpPr>
            <a:cxnSpLocks/>
            <a:stCxn id="111" idx="3"/>
            <a:endCxn id="118" idx="2"/>
          </p:cNvCxnSpPr>
          <p:nvPr/>
        </p:nvCxnSpPr>
        <p:spPr>
          <a:xfrm>
            <a:off x="3280835" y="2913441"/>
            <a:ext cx="1192760" cy="13002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9" name="Google Shape;119;p16"/>
          <p:cNvGrpSpPr/>
          <p:nvPr/>
        </p:nvGrpSpPr>
        <p:grpSpPr>
          <a:xfrm>
            <a:off x="4473595" y="1615579"/>
            <a:ext cx="1356300" cy="319200"/>
            <a:chOff x="5592550" y="1065516"/>
            <a:chExt cx="1356300" cy="319200"/>
          </a:xfrm>
        </p:grpSpPr>
        <p:sp>
          <p:nvSpPr>
            <p:cNvPr id="120" name="Google Shape;120;p16"/>
            <p:cNvSpPr/>
            <p:nvPr/>
          </p:nvSpPr>
          <p:spPr>
            <a:xfrm>
              <a:off x="5766550" y="1065516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Responsable TI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5592550" y="1145791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ato" panose="020B0604020202020204" charset="0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2129747" y="2624067"/>
            <a:ext cx="1151088" cy="578747"/>
            <a:chOff x="3914589" y="1867420"/>
            <a:chExt cx="1002823" cy="578747"/>
          </a:xfrm>
        </p:grpSpPr>
        <p:sp>
          <p:nvSpPr>
            <p:cNvPr id="111" name="Google Shape;111;p16"/>
            <p:cNvSpPr/>
            <p:nvPr/>
          </p:nvSpPr>
          <p:spPr>
            <a:xfrm>
              <a:off x="4087257" y="1867420"/>
              <a:ext cx="830155" cy="57874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Directeur de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p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rojet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3914589" y="2032898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241782" y="2728368"/>
            <a:ext cx="1182300" cy="319200"/>
            <a:chOff x="1825593" y="2419475"/>
            <a:chExt cx="1182300" cy="319200"/>
          </a:xfrm>
        </p:grpSpPr>
        <p:sp>
          <p:nvSpPr>
            <p:cNvPr id="123" name="Google Shape;123;p16"/>
            <p:cNvSpPr/>
            <p:nvPr/>
          </p:nvSpPr>
          <p:spPr>
            <a:xfrm>
              <a:off x="1825593" y="2419475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Comité Directeur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2630643" y="2482173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4473595" y="2859912"/>
            <a:ext cx="1489124" cy="319200"/>
            <a:chOff x="5592550" y="1933350"/>
            <a:chExt cx="1489124" cy="319200"/>
          </a:xfrm>
        </p:grpSpPr>
        <p:sp>
          <p:nvSpPr>
            <p:cNvPr id="125" name="Google Shape;125;p16"/>
            <p:cNvSpPr/>
            <p:nvPr/>
          </p:nvSpPr>
          <p:spPr>
            <a:xfrm>
              <a:off x="5766549" y="1933350"/>
              <a:ext cx="1315125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Responsable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ssurance qualité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592550" y="1991250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4473595" y="3426770"/>
            <a:ext cx="1356300" cy="319200"/>
            <a:chOff x="5592550" y="2890950"/>
            <a:chExt cx="1356300" cy="319200"/>
          </a:xfrm>
        </p:grpSpPr>
        <p:sp>
          <p:nvSpPr>
            <p:cNvPr id="127" name="Google Shape;127;p16"/>
            <p:cNvSpPr/>
            <p:nvPr/>
          </p:nvSpPr>
          <p:spPr>
            <a:xfrm>
              <a:off x="5766550" y="28909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Super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u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tilisateurs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5592550" y="2963550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4473595" y="4054140"/>
            <a:ext cx="1356300" cy="319200"/>
            <a:chOff x="5592550" y="3739295"/>
            <a:chExt cx="1356300" cy="319200"/>
          </a:xfrm>
        </p:grpSpPr>
        <p:sp>
          <p:nvSpPr>
            <p:cNvPr id="129" name="Google Shape;129;p16"/>
            <p:cNvSpPr/>
            <p:nvPr/>
          </p:nvSpPr>
          <p:spPr>
            <a:xfrm>
              <a:off x="5766550" y="3739295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Équipe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e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xterne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5592550" y="3811895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4473595" y="2117512"/>
            <a:ext cx="1356300" cy="319200"/>
            <a:chOff x="5592550" y="1933350"/>
            <a:chExt cx="1356300" cy="319200"/>
          </a:xfrm>
        </p:grpSpPr>
        <p:sp>
          <p:nvSpPr>
            <p:cNvPr id="131" name="Google Shape;131;p16"/>
            <p:cNvSpPr/>
            <p:nvPr/>
          </p:nvSpPr>
          <p:spPr>
            <a:xfrm>
              <a:off x="5766550" y="19333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Équipe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p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ilotage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5592550" y="1991250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cxnSp>
        <p:nvCxnSpPr>
          <p:cNvPr id="133" name="Google Shape;133;p16"/>
          <p:cNvCxnSpPr>
            <a:cxnSpLocks/>
            <a:stCxn id="111" idx="3"/>
            <a:endCxn id="132" idx="2"/>
          </p:cNvCxnSpPr>
          <p:nvPr/>
        </p:nvCxnSpPr>
        <p:spPr>
          <a:xfrm flipV="1">
            <a:off x="3280835" y="2262412"/>
            <a:ext cx="1192760" cy="65102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4" name="Google Shape;134;p16"/>
          <p:cNvGrpSpPr/>
          <p:nvPr/>
        </p:nvGrpSpPr>
        <p:grpSpPr>
          <a:xfrm>
            <a:off x="6521449" y="2892440"/>
            <a:ext cx="2380767" cy="606929"/>
            <a:chOff x="5630047" y="1926395"/>
            <a:chExt cx="1552209" cy="606929"/>
          </a:xfrm>
        </p:grpSpPr>
        <p:sp>
          <p:nvSpPr>
            <p:cNvPr id="135" name="Google Shape;135;p16"/>
            <p:cNvSpPr/>
            <p:nvPr/>
          </p:nvSpPr>
          <p:spPr>
            <a:xfrm>
              <a:off x="5766550" y="1926395"/>
              <a:ext cx="1415706" cy="606929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Assureur qualité comptabilité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Assureur qualité production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lvl="0"/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Assureur qualité maintenance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5630047" y="1965936"/>
              <a:ext cx="113444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cxnSp>
        <p:nvCxnSpPr>
          <p:cNvPr id="137" name="Google Shape;137;p16"/>
          <p:cNvCxnSpPr>
            <a:cxnSpLocks/>
            <a:stCxn id="125" idx="3"/>
            <a:endCxn id="136" idx="2"/>
          </p:cNvCxnSpPr>
          <p:nvPr/>
        </p:nvCxnSpPr>
        <p:spPr>
          <a:xfrm flipV="1">
            <a:off x="5962719" y="3018981"/>
            <a:ext cx="558730" cy="53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8" name="Google Shape;138;p16"/>
          <p:cNvGrpSpPr/>
          <p:nvPr/>
        </p:nvGrpSpPr>
        <p:grpSpPr>
          <a:xfrm>
            <a:off x="6521450" y="2191281"/>
            <a:ext cx="1889542" cy="358625"/>
            <a:chOff x="5592550" y="2097245"/>
            <a:chExt cx="1889542" cy="358625"/>
          </a:xfrm>
        </p:grpSpPr>
        <p:sp>
          <p:nvSpPr>
            <p:cNvPr id="139" name="Google Shape;139;p16"/>
            <p:cNvSpPr/>
            <p:nvPr/>
          </p:nvSpPr>
          <p:spPr>
            <a:xfrm>
              <a:off x="5801916" y="2136670"/>
              <a:ext cx="1680176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Assureurs qualité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Super utilisateurs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</a:t>
              </a:r>
              <a:r>
                <a:rPr lang="fr-CA" sz="1100" dirty="0" err="1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VPs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5592550" y="2097245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cxnSp>
        <p:nvCxnSpPr>
          <p:cNvPr id="141" name="Google Shape;141;p16"/>
          <p:cNvCxnSpPr>
            <a:stCxn id="131" idx="3"/>
            <a:endCxn id="140" idx="2"/>
          </p:cNvCxnSpPr>
          <p:nvPr/>
        </p:nvCxnSpPr>
        <p:spPr>
          <a:xfrm>
            <a:off x="5829895" y="2277112"/>
            <a:ext cx="691555" cy="116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2" name="Google Shape;142;p16"/>
          <p:cNvGrpSpPr/>
          <p:nvPr/>
        </p:nvGrpSpPr>
        <p:grpSpPr>
          <a:xfrm>
            <a:off x="6521449" y="3831341"/>
            <a:ext cx="2380767" cy="791469"/>
            <a:chOff x="5592549" y="1734632"/>
            <a:chExt cx="2380767" cy="791469"/>
          </a:xfrm>
        </p:grpSpPr>
        <p:sp>
          <p:nvSpPr>
            <p:cNvPr id="143" name="Google Shape;143;p16"/>
            <p:cNvSpPr/>
            <p:nvPr/>
          </p:nvSpPr>
          <p:spPr>
            <a:xfrm>
              <a:off x="5750758" y="1734632"/>
              <a:ext cx="2222558" cy="791469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Architecte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d’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affaire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Expert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t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echnique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des 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modules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Analys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t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e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d’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affaire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s</a:t>
              </a: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Expert </a:t>
              </a:r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t</a:t>
              </a:r>
              <a:r>
                <a:rPr lang="fr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echnique PGI</a:t>
              </a:r>
            </a:p>
            <a:p>
              <a:r>
                <a:rPr lang="fr-CA" sz="1100" dirty="0">
                  <a:solidFill>
                    <a:srgbClr val="9D2235"/>
                  </a:solidFill>
                  <a:latin typeface="Lato" panose="020B0604020202020204" charset="0"/>
                  <a:ea typeface="Roboto"/>
                  <a:cs typeface="Roboto"/>
                  <a:sym typeface="Roboto"/>
                </a:rPr>
                <a:t>- Formateur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5592549" y="2029256"/>
              <a:ext cx="174000" cy="174000"/>
            </a:xfrm>
            <a:prstGeom prst="ellipse">
              <a:avLst/>
            </a:prstGeom>
            <a:solidFill>
              <a:srgbClr val="9D22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9D2235"/>
                </a:solidFill>
                <a:latin typeface="Lato" panose="020B0604020202020204" charset="0"/>
              </a:endParaRPr>
            </a:p>
          </p:txBody>
        </p:sp>
      </p:grpSp>
      <p:cxnSp>
        <p:nvCxnSpPr>
          <p:cNvPr id="145" name="Google Shape;145;p16"/>
          <p:cNvCxnSpPr>
            <a:stCxn id="129" idx="3"/>
            <a:endCxn id="144" idx="2"/>
          </p:cNvCxnSpPr>
          <p:nvPr/>
        </p:nvCxnSpPr>
        <p:spPr>
          <a:xfrm flipV="1">
            <a:off x="5829895" y="4212965"/>
            <a:ext cx="691554" cy="77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6"/>
          <p:cNvSpPr/>
          <p:nvPr/>
        </p:nvSpPr>
        <p:spPr>
          <a:xfrm>
            <a:off x="271297" y="3432241"/>
            <a:ext cx="2056648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CA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- Président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- VP </a:t>
            </a:r>
            <a:r>
              <a:rPr lang="fr-CA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Comptable et </a:t>
            </a:r>
            <a:r>
              <a:rPr lang="fr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Finances</a:t>
            </a:r>
            <a:endParaRPr sz="1100" dirty="0">
              <a:solidFill>
                <a:srgbClr val="9D2235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- VP </a:t>
            </a:r>
            <a:r>
              <a:rPr lang="fr-CA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Production</a:t>
            </a:r>
            <a:endParaRPr sz="1100" dirty="0">
              <a:solidFill>
                <a:srgbClr val="9D2235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- </a:t>
            </a:r>
            <a:r>
              <a:rPr lang="fr-CA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VP Maintenance</a:t>
            </a:r>
            <a:endParaRPr sz="1100" dirty="0">
              <a:solidFill>
                <a:srgbClr val="9D2235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Étapes du projet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Production et soutien 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Risques et mitigations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Coûts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Formation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Communication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Structure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9BD7BB-F6AC-4D07-835F-D106769DC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4</a:t>
            </a:fld>
            <a:endParaRPr lang="fr"/>
          </a:p>
        </p:txBody>
      </p:sp>
      <p:sp>
        <p:nvSpPr>
          <p:cNvPr id="89" name="Google Shape;120;p16">
            <a:extLst>
              <a:ext uri="{FF2B5EF4-FFF2-40B4-BE49-F238E27FC236}">
                <a16:creationId xmlns:a16="http://schemas.microsoft.com/office/drawing/2014/main" id="{19D63C98-25B1-454A-81F6-3B735F64BD61}"/>
              </a:ext>
            </a:extLst>
          </p:cNvPr>
          <p:cNvSpPr/>
          <p:nvPr/>
        </p:nvSpPr>
        <p:spPr>
          <a:xfrm>
            <a:off x="4647595" y="1181528"/>
            <a:ext cx="1182300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Chargé de projet</a:t>
            </a:r>
            <a:r>
              <a:rPr lang="fr" sz="1100" dirty="0">
                <a:solidFill>
                  <a:srgbClr val="9D2235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 TI</a:t>
            </a:r>
            <a:endParaRPr sz="1100" dirty="0">
              <a:solidFill>
                <a:srgbClr val="9D2235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112;p16">
            <a:extLst>
              <a:ext uri="{FF2B5EF4-FFF2-40B4-BE49-F238E27FC236}">
                <a16:creationId xmlns:a16="http://schemas.microsoft.com/office/drawing/2014/main" id="{840B1861-0690-4E9C-B8FD-2C12013FDE80}"/>
              </a:ext>
            </a:extLst>
          </p:cNvPr>
          <p:cNvSpPr/>
          <p:nvPr/>
        </p:nvSpPr>
        <p:spPr>
          <a:xfrm>
            <a:off x="4473595" y="1242484"/>
            <a:ext cx="174000" cy="174000"/>
          </a:xfrm>
          <a:prstGeom prst="ellipse">
            <a:avLst/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 panose="020B0604020202020204" charset="0"/>
            </a:endParaRPr>
          </a:p>
        </p:txBody>
      </p:sp>
      <p:cxnSp>
        <p:nvCxnSpPr>
          <p:cNvPr id="97" name="Google Shape;110;p16">
            <a:extLst>
              <a:ext uri="{FF2B5EF4-FFF2-40B4-BE49-F238E27FC236}">
                <a16:creationId xmlns:a16="http://schemas.microsoft.com/office/drawing/2014/main" id="{F9EB3A2C-C4F7-49EE-8E98-850B126268AF}"/>
              </a:ext>
            </a:extLst>
          </p:cNvPr>
          <p:cNvCxnSpPr>
            <a:cxnSpLocks/>
            <a:stCxn id="111" idx="3"/>
            <a:endCxn id="90" idx="2"/>
          </p:cNvCxnSpPr>
          <p:nvPr/>
        </p:nvCxnSpPr>
        <p:spPr>
          <a:xfrm flipV="1">
            <a:off x="3280835" y="1329484"/>
            <a:ext cx="1192760" cy="158395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Étapes du projet</a:t>
            </a:r>
            <a:endParaRPr dirty="0"/>
          </a:p>
        </p:txBody>
      </p:sp>
      <p:sp>
        <p:nvSpPr>
          <p:cNvPr id="163" name="Google Shape;163;p17"/>
          <p:cNvSpPr/>
          <p:nvPr/>
        </p:nvSpPr>
        <p:spPr>
          <a:xfrm>
            <a:off x="1662920" y="2042561"/>
            <a:ext cx="353400" cy="36900"/>
          </a:xfrm>
          <a:prstGeom prst="roundRect">
            <a:avLst>
              <a:gd name="adj" fmla="val 50000"/>
            </a:avLst>
          </a:prstGeom>
          <a:solidFill>
            <a:srgbClr val="1B7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14912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14912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4912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14912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4912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14918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1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77425" y="2295775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Analyse Opérations</a:t>
            </a:r>
            <a:endParaRPr sz="800" b="1" dirty="0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77425" y="2758296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Conception Projet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77425" y="3220647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Réalisation</a:t>
            </a:r>
            <a:b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</a:b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Exécution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77425" y="3683151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Transition Projet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77425" y="1833451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Définition Projet</a:t>
            </a:r>
            <a:endParaRPr sz="800" b="1" dirty="0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4914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477775" y="4146401"/>
            <a:ext cx="1014600" cy="462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Mise en Production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5065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25065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25065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25065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25065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25071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2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67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35225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35225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35225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35225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35225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35231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3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5227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45392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45392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45392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45392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45392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45398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4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45394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55566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55566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55566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55566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5566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5572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5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5568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65726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726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65726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 rot="5400000" flipH="1">
            <a:off x="1680641" y="1873051"/>
            <a:ext cx="141600" cy="3831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65726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65726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65732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6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65728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7589301" y="1833401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7589301" y="2295757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7589301" y="2758282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7589301" y="3220638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7589301" y="3683146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7589999" y="1523251"/>
            <a:ext cx="1014600" cy="3075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Trimestre 7</a:t>
            </a:r>
            <a:endParaRPr sz="80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7589598" y="4146399"/>
            <a:ext cx="10143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7"/>
          <p:cNvSpPr/>
          <p:nvPr/>
        </p:nvSpPr>
        <p:spPr>
          <a:xfrm rot="5400000" flipH="1">
            <a:off x="1559750" y="1992626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7"/>
          <p:cNvSpPr/>
          <p:nvPr/>
        </p:nvSpPr>
        <p:spPr>
          <a:xfrm rot="5400000" flipH="1">
            <a:off x="2040150" y="2360176"/>
            <a:ext cx="141600" cy="3354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7"/>
          <p:cNvSpPr/>
          <p:nvPr/>
        </p:nvSpPr>
        <p:spPr>
          <a:xfrm rot="5400000" flipH="1">
            <a:off x="1943012" y="2455901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1B7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7"/>
          <p:cNvSpPr/>
          <p:nvPr/>
        </p:nvSpPr>
        <p:spPr>
          <a:xfrm rot="5400000" flipH="1">
            <a:off x="2467049" y="2620926"/>
            <a:ext cx="141600" cy="7386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7"/>
          <p:cNvSpPr/>
          <p:nvPr/>
        </p:nvSpPr>
        <p:spPr>
          <a:xfrm rot="5400000" flipH="1">
            <a:off x="2175908" y="2918251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1B7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7"/>
          <p:cNvSpPr/>
          <p:nvPr/>
        </p:nvSpPr>
        <p:spPr>
          <a:xfrm rot="5400000" flipH="1">
            <a:off x="3588573" y="2455551"/>
            <a:ext cx="141600" cy="19944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"/>
          <p:cNvSpPr/>
          <p:nvPr/>
        </p:nvSpPr>
        <p:spPr>
          <a:xfrm rot="5400000" flipH="1">
            <a:off x="2661912" y="3380776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1B7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7"/>
          <p:cNvSpPr/>
          <p:nvPr/>
        </p:nvSpPr>
        <p:spPr>
          <a:xfrm rot="5400000" flipH="1">
            <a:off x="4807416" y="2071301"/>
            <a:ext cx="141600" cy="36885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"/>
          <p:cNvSpPr/>
          <p:nvPr/>
        </p:nvSpPr>
        <p:spPr>
          <a:xfrm rot="5400000" flipH="1">
            <a:off x="3033725" y="3843576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1B7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7"/>
          <p:cNvSpPr/>
          <p:nvPr/>
        </p:nvSpPr>
        <p:spPr>
          <a:xfrm rot="5400000" flipH="1">
            <a:off x="7033098" y="2878751"/>
            <a:ext cx="141600" cy="2999400"/>
          </a:xfrm>
          <a:prstGeom prst="round2SameRect">
            <a:avLst>
              <a:gd name="adj1" fmla="val 41844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"/>
          <p:cNvSpPr/>
          <p:nvPr/>
        </p:nvSpPr>
        <p:spPr>
          <a:xfrm rot="5400000" flipH="1">
            <a:off x="5600650" y="4306463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1491900" y="1323001"/>
            <a:ext cx="2028900" cy="1977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2020</a:t>
            </a:r>
            <a:endParaRPr sz="105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7586300" y="1322901"/>
            <a:ext cx="1014300" cy="1977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2022</a:t>
            </a:r>
            <a:endParaRPr sz="105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3523200" y="1322901"/>
            <a:ext cx="4063800" cy="1977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 b="1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2021</a:t>
            </a:r>
            <a:endParaRPr sz="1050" b="1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476600" y="1323001"/>
            <a:ext cx="1014600" cy="507900"/>
          </a:xfrm>
          <a:prstGeom prst="rect">
            <a:avLst/>
          </a:prstGeom>
          <a:solidFill>
            <a:srgbClr val="9D223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rgbClr val="FFFFFF"/>
                </a:solidFill>
                <a:latin typeface="Lato" panose="020B0604020202020204" charset="0"/>
                <a:ea typeface="Roboto"/>
                <a:cs typeface="Roboto"/>
                <a:sym typeface="Roboto"/>
              </a:rPr>
              <a:t>Chronologie</a:t>
            </a:r>
            <a:endParaRPr sz="800" b="1" dirty="0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FFFFFF"/>
              </a:solidFill>
              <a:latin typeface="Lato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222;p17">
            <a:extLst>
              <a:ext uri="{FF2B5EF4-FFF2-40B4-BE49-F238E27FC236}">
                <a16:creationId xmlns:a16="http://schemas.microsoft.com/office/drawing/2014/main" id="{063DCA3B-4347-4EDF-8E95-41BAD2FECFCC}"/>
              </a:ext>
            </a:extLst>
          </p:cNvPr>
          <p:cNvSpPr/>
          <p:nvPr/>
        </p:nvSpPr>
        <p:spPr>
          <a:xfrm rot="5400000" flipH="1">
            <a:off x="1942991" y="2457376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224;p17">
            <a:extLst>
              <a:ext uri="{FF2B5EF4-FFF2-40B4-BE49-F238E27FC236}">
                <a16:creationId xmlns:a16="http://schemas.microsoft.com/office/drawing/2014/main" id="{9717163A-53B4-4E48-9129-C7F2A6F0ABBC}"/>
              </a:ext>
            </a:extLst>
          </p:cNvPr>
          <p:cNvSpPr/>
          <p:nvPr/>
        </p:nvSpPr>
        <p:spPr>
          <a:xfrm rot="5400000" flipH="1">
            <a:off x="2175887" y="2919726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226;p17">
            <a:extLst>
              <a:ext uri="{FF2B5EF4-FFF2-40B4-BE49-F238E27FC236}">
                <a16:creationId xmlns:a16="http://schemas.microsoft.com/office/drawing/2014/main" id="{9CC4F293-D72F-4A7E-A6FF-ED4310CD8210}"/>
              </a:ext>
            </a:extLst>
          </p:cNvPr>
          <p:cNvSpPr/>
          <p:nvPr/>
        </p:nvSpPr>
        <p:spPr>
          <a:xfrm rot="5400000" flipH="1">
            <a:off x="2661891" y="3382251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228;p17">
            <a:extLst>
              <a:ext uri="{FF2B5EF4-FFF2-40B4-BE49-F238E27FC236}">
                <a16:creationId xmlns:a16="http://schemas.microsoft.com/office/drawing/2014/main" id="{3F4E0813-D8B3-45F1-BA7A-FBFC3F0FC210}"/>
              </a:ext>
            </a:extLst>
          </p:cNvPr>
          <p:cNvSpPr/>
          <p:nvPr/>
        </p:nvSpPr>
        <p:spPr>
          <a:xfrm rot="5400000" flipH="1">
            <a:off x="3033704" y="3845051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D22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151;p16">
            <a:extLst>
              <a:ext uri="{FF2B5EF4-FFF2-40B4-BE49-F238E27FC236}">
                <a16:creationId xmlns:a16="http://schemas.microsoft.com/office/drawing/2014/main" id="{606E8B52-42D6-4CD5-B931-A05E2FACD490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Étapes du projet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88" name="Google Shape;152;p16">
            <a:extLst>
              <a:ext uri="{FF2B5EF4-FFF2-40B4-BE49-F238E27FC236}">
                <a16:creationId xmlns:a16="http://schemas.microsoft.com/office/drawing/2014/main" id="{2B91511F-C9E3-4C0F-B837-92E93598217C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Production et soutien 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89" name="Google Shape;153;p16">
            <a:extLst>
              <a:ext uri="{FF2B5EF4-FFF2-40B4-BE49-F238E27FC236}">
                <a16:creationId xmlns:a16="http://schemas.microsoft.com/office/drawing/2014/main" id="{7F8A95A5-004D-446A-8667-CD01800178E5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Risques et mitigations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90" name="Google Shape;154;p16">
            <a:extLst>
              <a:ext uri="{FF2B5EF4-FFF2-40B4-BE49-F238E27FC236}">
                <a16:creationId xmlns:a16="http://schemas.microsoft.com/office/drawing/2014/main" id="{87C43A70-3761-4033-A08B-2E4369D28AAF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Coûts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91" name="Google Shape;155;p16">
            <a:extLst>
              <a:ext uri="{FF2B5EF4-FFF2-40B4-BE49-F238E27FC236}">
                <a16:creationId xmlns:a16="http://schemas.microsoft.com/office/drawing/2014/main" id="{37DF2636-8D21-4B2B-9EBD-062ED85F10F9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Formation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92" name="Google Shape;156;p16">
            <a:extLst>
              <a:ext uri="{FF2B5EF4-FFF2-40B4-BE49-F238E27FC236}">
                <a16:creationId xmlns:a16="http://schemas.microsoft.com/office/drawing/2014/main" id="{E8191AA4-C832-46BF-9F3F-0658EEB2A65F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Communication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93" name="Google Shape;157;p16">
            <a:extLst>
              <a:ext uri="{FF2B5EF4-FFF2-40B4-BE49-F238E27FC236}">
                <a16:creationId xmlns:a16="http://schemas.microsoft.com/office/drawing/2014/main" id="{3ADC6A41-2BDE-42A6-B644-387F0E53AFB6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Structure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DADFBB-F512-441E-BA77-DC49FFA980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5</a:t>
            </a:fld>
            <a:endParaRPr lang="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Communication et gestion du changement</a:t>
            </a:r>
            <a:endParaRPr dirty="0"/>
          </a:p>
        </p:txBody>
      </p:sp>
      <p:graphicFrame>
        <p:nvGraphicFramePr>
          <p:cNvPr id="248" name="Google Shape;248;p18"/>
          <p:cNvGraphicFramePr/>
          <p:nvPr>
            <p:extLst>
              <p:ext uri="{D42A27DB-BD31-4B8C-83A1-F6EECF244321}">
                <p14:modId xmlns:p14="http://schemas.microsoft.com/office/powerpoint/2010/main" val="3646004418"/>
              </p:ext>
            </p:extLst>
          </p:nvPr>
        </p:nvGraphicFramePr>
        <p:xfrm>
          <a:off x="1273925" y="1404400"/>
          <a:ext cx="6596125" cy="2864880"/>
        </p:xfrm>
        <a:graphic>
          <a:graphicData uri="http://schemas.openxmlformats.org/drawingml/2006/table">
            <a:tbl>
              <a:tblPr>
                <a:noFill/>
                <a:tableStyleId>{766003E1-D845-41A1-A56D-52E4B05077DB}</a:tableStyleId>
              </a:tblPr>
              <a:tblGrid>
                <a:gridCol w="15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bg1"/>
                          </a:solidFill>
                          <a:latin typeface="Lato" panose="020B0604020202020204" charset="0"/>
                        </a:rPr>
                        <a:t>Quoi</a:t>
                      </a:r>
                      <a:endParaRPr sz="1200" b="1" dirty="0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91425" marR="91425" marT="91425" marB="91425">
                    <a:solidFill>
                      <a:srgbClr val="9D223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bg1"/>
                          </a:solidFill>
                          <a:latin typeface="Lato" panose="020B0604020202020204" charset="0"/>
                        </a:rPr>
                        <a:t>À qui</a:t>
                      </a:r>
                      <a:endParaRPr sz="1200" b="1" dirty="0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91425" marR="91425" marT="91425" marB="91425">
                    <a:solidFill>
                      <a:srgbClr val="9D223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>
                          <a:solidFill>
                            <a:schemeClr val="bg1"/>
                          </a:solidFill>
                          <a:latin typeface="Lato" panose="020B0604020202020204" charset="0"/>
                        </a:rPr>
                        <a:t>Comment</a:t>
                      </a:r>
                      <a:endParaRPr sz="1200" b="1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91425" marR="91425" marT="91425" marB="91425">
                    <a:solidFill>
                      <a:srgbClr val="9D223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bg1"/>
                          </a:solidFill>
                          <a:latin typeface="Lato" panose="020B0604020202020204" charset="0"/>
                        </a:rPr>
                        <a:t>Quand</a:t>
                      </a:r>
                      <a:endParaRPr sz="1200" b="1" dirty="0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91425" marR="91425" marT="91425" marB="91425">
                    <a:solidFill>
                      <a:srgbClr val="9D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Lancement du projet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Tous les exécutifs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Réunion de gestion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Définition du projet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Annonce du projet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Tous les employés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Courriel / vidéo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Après l’approbation du projet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Analyse / Révision des processus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Super-utilisateurs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Réunion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Analyse des opérations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Évolution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Tous les exécutifs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Réunion de gestion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Bimensuel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Annonce du pilote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Tous les employés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Courriel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Transition du projet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Annonce des formations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Tous les employés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Courriel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Transition du projet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Go Live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Tous les employés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Lato" panose="020B0604020202020204" charset="0"/>
                        </a:rPr>
                        <a:t>Courriel</a:t>
                      </a:r>
                      <a:endParaRPr sz="100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latin typeface="Lato" panose="020B0604020202020204" charset="0"/>
                        </a:rPr>
                        <a:t>Mise en production</a:t>
                      </a:r>
                      <a:endParaRPr sz="1000" dirty="0">
                        <a:latin typeface="Lato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Google Shape;151;p16">
            <a:extLst>
              <a:ext uri="{FF2B5EF4-FFF2-40B4-BE49-F238E27FC236}">
                <a16:creationId xmlns:a16="http://schemas.microsoft.com/office/drawing/2014/main" id="{1A022F82-5421-43E0-A04B-F4495528333E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Étapes du projet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4" name="Google Shape;152;p16">
            <a:extLst>
              <a:ext uri="{FF2B5EF4-FFF2-40B4-BE49-F238E27FC236}">
                <a16:creationId xmlns:a16="http://schemas.microsoft.com/office/drawing/2014/main" id="{E745FD7F-134A-44D5-9B71-FDDBF7876E13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Production et soutien 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5" name="Google Shape;153;p16">
            <a:extLst>
              <a:ext uri="{FF2B5EF4-FFF2-40B4-BE49-F238E27FC236}">
                <a16:creationId xmlns:a16="http://schemas.microsoft.com/office/drawing/2014/main" id="{958A854C-F36A-4F8D-9080-A66E0DA42030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Risques et mitigations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6" name="Google Shape;154;p16">
            <a:extLst>
              <a:ext uri="{FF2B5EF4-FFF2-40B4-BE49-F238E27FC236}">
                <a16:creationId xmlns:a16="http://schemas.microsoft.com/office/drawing/2014/main" id="{A38C089D-EDAB-419E-B892-CD10687682E6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Coûts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7" name="Google Shape;155;p16">
            <a:extLst>
              <a:ext uri="{FF2B5EF4-FFF2-40B4-BE49-F238E27FC236}">
                <a16:creationId xmlns:a16="http://schemas.microsoft.com/office/drawing/2014/main" id="{D6D382E6-F84C-45AB-B336-71D67D174A23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Formation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8" name="Google Shape;156;p16">
            <a:extLst>
              <a:ext uri="{FF2B5EF4-FFF2-40B4-BE49-F238E27FC236}">
                <a16:creationId xmlns:a16="http://schemas.microsoft.com/office/drawing/2014/main" id="{149B85ED-94EF-42FD-8D11-FBCFD8F8A06E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Communication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9" name="Google Shape;157;p16">
            <a:extLst>
              <a:ext uri="{FF2B5EF4-FFF2-40B4-BE49-F238E27FC236}">
                <a16:creationId xmlns:a16="http://schemas.microsoft.com/office/drawing/2014/main" id="{251060DC-B1D7-4C1B-9A6E-BEA08C647A2C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Structure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8FD9DD-DFD1-4314-9EAE-32336C4027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6</a:t>
            </a:fld>
            <a:endParaRPr lang="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Formation</a:t>
            </a:r>
            <a:endParaRPr dirty="0"/>
          </a:p>
        </p:txBody>
      </p:sp>
      <p:sp>
        <p:nvSpPr>
          <p:cNvPr id="263" name="Google Shape;263;p19"/>
          <p:cNvSpPr txBox="1">
            <a:spLocks noGrp="1"/>
          </p:cNvSpPr>
          <p:nvPr>
            <p:ph type="body" idx="1"/>
          </p:nvPr>
        </p:nvSpPr>
        <p:spPr>
          <a:xfrm>
            <a:off x="729450" y="1469274"/>
            <a:ext cx="4372975" cy="2899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Quoi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Système PGI (général)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Nouveaux processus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Utilisation du PGI (module)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Comment: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Super-utilisateurs (ambassadeurs)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Pilote (2 semaines)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Utilisateurs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Documentation: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Documents de formation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 Manuel de référence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Formateur</a:t>
            </a:r>
            <a:endParaRPr dirty="0">
              <a:solidFill>
                <a:schemeClr val="bg2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264" name="Google Shape;2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25" y="1641000"/>
            <a:ext cx="3810149" cy="254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1;p16">
            <a:extLst>
              <a:ext uri="{FF2B5EF4-FFF2-40B4-BE49-F238E27FC236}">
                <a16:creationId xmlns:a16="http://schemas.microsoft.com/office/drawing/2014/main" id="{7254C22A-F1B4-4C5A-AC9D-FEBA1685F86A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chemeClr val="bg1"/>
                </a:solidFill>
                <a:latin typeface="Lato" panose="020B0604020202020204" charset="0"/>
              </a:rPr>
              <a:t>Étapes du projet</a:t>
            </a:r>
            <a:endParaRPr sz="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6" name="Google Shape;152;p16">
            <a:extLst>
              <a:ext uri="{FF2B5EF4-FFF2-40B4-BE49-F238E27FC236}">
                <a16:creationId xmlns:a16="http://schemas.microsoft.com/office/drawing/2014/main" id="{495C8A0F-47ED-4C3F-89E0-34F004F15D50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Production et soutien 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7" name="Google Shape;153;p16">
            <a:extLst>
              <a:ext uri="{FF2B5EF4-FFF2-40B4-BE49-F238E27FC236}">
                <a16:creationId xmlns:a16="http://schemas.microsoft.com/office/drawing/2014/main" id="{D5CDC7F3-B501-433E-ACFB-DF44B486C799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Risques et mitigations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8" name="Google Shape;154;p16">
            <a:extLst>
              <a:ext uri="{FF2B5EF4-FFF2-40B4-BE49-F238E27FC236}">
                <a16:creationId xmlns:a16="http://schemas.microsoft.com/office/drawing/2014/main" id="{34E8CE72-E4FE-4B12-83AE-3D7CDFE3BEF0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Coûts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9" name="Google Shape;155;p16">
            <a:extLst>
              <a:ext uri="{FF2B5EF4-FFF2-40B4-BE49-F238E27FC236}">
                <a16:creationId xmlns:a16="http://schemas.microsoft.com/office/drawing/2014/main" id="{D7478EBE-21AB-4F3B-BA45-ACEF394CC15A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Formation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0" name="Google Shape;156;p16">
            <a:extLst>
              <a:ext uri="{FF2B5EF4-FFF2-40B4-BE49-F238E27FC236}">
                <a16:creationId xmlns:a16="http://schemas.microsoft.com/office/drawing/2014/main" id="{AE8EE03C-FE28-4588-AFBB-0C323191CEE6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Communication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1" name="Google Shape;157;p16">
            <a:extLst>
              <a:ext uri="{FF2B5EF4-FFF2-40B4-BE49-F238E27FC236}">
                <a16:creationId xmlns:a16="http://schemas.microsoft.com/office/drawing/2014/main" id="{7EF05464-CA85-48EF-9DE3-86AF1D8FF030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Structure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90DB9-EE4F-4BFC-9BB4-56EA1AE1F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7</a:t>
            </a:fld>
            <a:endParaRPr lang="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production et soutien à la production</a:t>
            </a:r>
            <a:endParaRPr/>
          </a:p>
        </p:txBody>
      </p:sp>
      <p:sp>
        <p:nvSpPr>
          <p:cNvPr id="280" name="Google Shape;280;p20"/>
          <p:cNvSpPr txBox="1">
            <a:spLocks noGrp="1"/>
          </p:cNvSpPr>
          <p:nvPr>
            <p:ph type="body" idx="1"/>
          </p:nvPr>
        </p:nvSpPr>
        <p:spPr>
          <a:xfrm>
            <a:off x="729450" y="1697875"/>
            <a:ext cx="763985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Mise en production (Go/No-Go)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l'équipe de pilotage teste le système avec les données converties 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les unités impactées reçoivent la formation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dirty="0">
                <a:solidFill>
                  <a:schemeClr val="bg2"/>
                </a:solidFill>
              </a:rPr>
              <a:t>le comité directeur donnera le go ou non go pour la mise en production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dirty="0">
                <a:solidFill>
                  <a:schemeClr val="bg2"/>
                </a:solidFill>
              </a:rPr>
              <a:t>Soutien à la production 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-CA" dirty="0">
                <a:solidFill>
                  <a:schemeClr val="bg2"/>
                </a:solidFill>
              </a:rPr>
              <a:t>d’une durée de </a:t>
            </a:r>
            <a:r>
              <a:rPr lang="fr" dirty="0">
                <a:solidFill>
                  <a:schemeClr val="bg2"/>
                </a:solidFill>
              </a:rPr>
              <a:t>6 mois de support du fournisseur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-CA" dirty="0">
                <a:solidFill>
                  <a:schemeClr val="bg2"/>
                </a:solidFill>
              </a:rPr>
              <a:t>la </a:t>
            </a:r>
            <a:r>
              <a:rPr lang="fr" dirty="0">
                <a:solidFill>
                  <a:schemeClr val="bg2"/>
                </a:solidFill>
              </a:rPr>
              <a:t>collecte et </a:t>
            </a:r>
            <a:r>
              <a:rPr lang="fr-CA" dirty="0">
                <a:solidFill>
                  <a:schemeClr val="bg2"/>
                </a:solidFill>
              </a:rPr>
              <a:t>les </a:t>
            </a:r>
            <a:r>
              <a:rPr lang="fr" dirty="0">
                <a:solidFill>
                  <a:schemeClr val="bg2"/>
                </a:solidFill>
              </a:rPr>
              <a:t>réparations des incidents et problèmes après la production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-CA" dirty="0">
                <a:solidFill>
                  <a:schemeClr val="bg2"/>
                </a:solidFill>
              </a:rPr>
              <a:t>l</a:t>
            </a:r>
            <a:r>
              <a:rPr lang="fr" dirty="0">
                <a:solidFill>
                  <a:schemeClr val="bg2"/>
                </a:solidFill>
              </a:rPr>
              <a:t>e service de TI </a:t>
            </a:r>
            <a:r>
              <a:rPr lang="fr-CA" dirty="0">
                <a:solidFill>
                  <a:schemeClr val="bg2"/>
                </a:solidFill>
              </a:rPr>
              <a:t>de Fruit d’Or </a:t>
            </a:r>
            <a:r>
              <a:rPr lang="fr" dirty="0">
                <a:solidFill>
                  <a:schemeClr val="bg2"/>
                </a:solidFill>
              </a:rPr>
              <a:t>maintiendra l’infrastructure technologique </a:t>
            </a:r>
            <a:r>
              <a:rPr lang="fr-CA" dirty="0">
                <a:solidFill>
                  <a:schemeClr val="bg2"/>
                </a:solidFill>
              </a:rPr>
              <a:t>interne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5" name="Google Shape;151;p16">
            <a:extLst>
              <a:ext uri="{FF2B5EF4-FFF2-40B4-BE49-F238E27FC236}">
                <a16:creationId xmlns:a16="http://schemas.microsoft.com/office/drawing/2014/main" id="{BF822A12-3BE7-4B26-9F19-B876B0257E83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chemeClr val="bg1"/>
                </a:solidFill>
                <a:latin typeface="Lato" panose="020B0604020202020204" charset="0"/>
              </a:rPr>
              <a:t>Étapes du projet</a:t>
            </a:r>
            <a:endParaRPr sz="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6" name="Google Shape;152;p16">
            <a:extLst>
              <a:ext uri="{FF2B5EF4-FFF2-40B4-BE49-F238E27FC236}">
                <a16:creationId xmlns:a16="http://schemas.microsoft.com/office/drawing/2014/main" id="{E9C0CF84-1182-43BA-A817-C5295E041171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chemeClr val="bg1"/>
                </a:solidFill>
                <a:latin typeface="Lato" panose="020B0604020202020204" charset="0"/>
              </a:rPr>
              <a:t>Production et soutien </a:t>
            </a:r>
            <a:endParaRPr sz="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7" name="Google Shape;153;p16">
            <a:extLst>
              <a:ext uri="{FF2B5EF4-FFF2-40B4-BE49-F238E27FC236}">
                <a16:creationId xmlns:a16="http://schemas.microsoft.com/office/drawing/2014/main" id="{3299F634-0690-495F-990F-E7AE9E68F8AA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Risques et mitigations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8" name="Google Shape;154;p16">
            <a:extLst>
              <a:ext uri="{FF2B5EF4-FFF2-40B4-BE49-F238E27FC236}">
                <a16:creationId xmlns:a16="http://schemas.microsoft.com/office/drawing/2014/main" id="{FFA5A1AC-41AD-4232-8EB3-D3F68E1263CC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Coûts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9" name="Google Shape;155;p16">
            <a:extLst>
              <a:ext uri="{FF2B5EF4-FFF2-40B4-BE49-F238E27FC236}">
                <a16:creationId xmlns:a16="http://schemas.microsoft.com/office/drawing/2014/main" id="{CCF30A2A-BA2D-4AB8-B225-0FD265E979E1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chemeClr val="bg1"/>
                </a:solidFill>
                <a:latin typeface="Lato" panose="020B0604020202020204" charset="0"/>
              </a:rPr>
              <a:t>Formation</a:t>
            </a:r>
            <a:endParaRPr sz="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0" name="Google Shape;156;p16">
            <a:extLst>
              <a:ext uri="{FF2B5EF4-FFF2-40B4-BE49-F238E27FC236}">
                <a16:creationId xmlns:a16="http://schemas.microsoft.com/office/drawing/2014/main" id="{D7954571-AC6D-42A9-B974-11021742ED1F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chemeClr val="bg1"/>
                </a:solidFill>
                <a:latin typeface="Lato" panose="020B0604020202020204" charset="0"/>
              </a:rPr>
              <a:t>Communication</a:t>
            </a:r>
            <a:endParaRPr sz="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1" name="Google Shape;157;p16">
            <a:extLst>
              <a:ext uri="{FF2B5EF4-FFF2-40B4-BE49-F238E27FC236}">
                <a16:creationId xmlns:a16="http://schemas.microsoft.com/office/drawing/2014/main" id="{B35F6AAC-4104-41F7-97A8-E0BCA615FB4E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bg1"/>
                </a:solidFill>
                <a:latin typeface="Lato" panose="020B0604020202020204" charset="0"/>
              </a:rPr>
              <a:t>Structure</a:t>
            </a:r>
            <a:endParaRPr sz="80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8EC4A9-799B-48C4-B693-6A6A942FF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8</a:t>
            </a:fld>
            <a:endParaRPr lang="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2104-612C-4D1B-ADFB-A3E733FD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dirty="0"/>
              <a:t>Risques et mitigations</a:t>
            </a:r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25CF-4E01-4C12-8D29-5C2ED5E95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9</a:t>
            </a:fld>
            <a:endParaRPr lang="fr"/>
          </a:p>
        </p:txBody>
      </p:sp>
      <p:graphicFrame>
        <p:nvGraphicFramePr>
          <p:cNvPr id="5" name="Tableau 6">
            <a:extLst>
              <a:ext uri="{FF2B5EF4-FFF2-40B4-BE49-F238E27FC236}">
                <a16:creationId xmlns:a16="http://schemas.microsoft.com/office/drawing/2014/main" id="{E24D8A6A-A739-4B59-B9C9-CF3D3695A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69024"/>
              </p:ext>
            </p:extLst>
          </p:nvPr>
        </p:nvGraphicFramePr>
        <p:xfrm>
          <a:off x="1681848" y="1724318"/>
          <a:ext cx="5599486" cy="265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5996">
                <a:tc>
                  <a:txBody>
                    <a:bodyPr/>
                    <a:lstStyle/>
                    <a:p>
                      <a:pPr algn="ctr"/>
                      <a:endParaRPr lang="fr-FR" sz="1200" b="0" cap="none" spc="0" dirty="0">
                        <a:ln/>
                        <a:solidFill>
                          <a:schemeClr val="accent3"/>
                        </a:solidFill>
                        <a:effectLst/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cap="none" spc="0" dirty="0">
                          <a:ln/>
                          <a:solidFill>
                            <a:schemeClr val="bg2"/>
                          </a:solidFill>
                          <a:effectLst/>
                          <a:latin typeface="Lato" panose="020B0604020202020204" charset="0"/>
                          <a:ea typeface="Century Gothic" charset="0"/>
                          <a:cs typeface="Century Gothic" charset="0"/>
                        </a:rPr>
                        <a:t>Non disponibilité des ressources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000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996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cap="none" spc="0" dirty="0">
                          <a:ln/>
                          <a:solidFill>
                            <a:schemeClr val="bg2"/>
                          </a:solidFill>
                          <a:effectLst/>
                          <a:latin typeface="Lato" panose="020B0604020202020204" charset="0"/>
                          <a:ea typeface="Century Gothic" charset="0"/>
                          <a:cs typeface="Century Gothic" charset="0"/>
                        </a:rPr>
                        <a:t>Fournisseur qui fait faillite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cap="none" spc="0" dirty="0">
                          <a:ln/>
                          <a:solidFill>
                            <a:schemeClr val="bg2"/>
                          </a:solidFill>
                          <a:effectLst/>
                          <a:latin typeface="Lato" panose="020B0604020202020204" charset="0"/>
                          <a:ea typeface="Century Gothic" charset="0"/>
                          <a:cs typeface="Century Gothic" charset="0"/>
                        </a:rPr>
                        <a:t>Coûts imprévus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cap="none" spc="0" dirty="0">
                          <a:ln/>
                          <a:solidFill>
                            <a:schemeClr val="bg2"/>
                          </a:solidFill>
                          <a:effectLst/>
                          <a:latin typeface="Lato" panose="020B0604020202020204" charset="0"/>
                          <a:ea typeface="Century Gothic" charset="0"/>
                          <a:cs typeface="Century Gothic" charset="0"/>
                        </a:rPr>
                        <a:t>Délai dépassé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1400" b="1" cap="none" spc="0" dirty="0">
                        <a:ln/>
                        <a:solidFill>
                          <a:schemeClr val="bg2"/>
                        </a:solidFill>
                        <a:effectLst/>
                        <a:latin typeface="Lato" panose="020B0604020202020204" charset="0"/>
                        <a:ea typeface="Century Gothic" charset="0"/>
                        <a:cs typeface="Century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0012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996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b="0" cap="none" spc="0" dirty="0">
                          <a:ln/>
                          <a:solidFill>
                            <a:schemeClr val="bg2"/>
                          </a:solidFill>
                          <a:effectLst/>
                          <a:latin typeface="Lato" panose="020B0604020202020204" charset="0"/>
                          <a:ea typeface="Century Gothic" charset="0"/>
                          <a:cs typeface="Century Gothic" charset="0"/>
                        </a:rPr>
                        <a:t>Nouvelle législation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2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ZoneTexte 9">
            <a:extLst>
              <a:ext uri="{FF2B5EF4-FFF2-40B4-BE49-F238E27FC236}">
                <a16:creationId xmlns:a16="http://schemas.microsoft.com/office/drawing/2014/main" id="{CF4C4C5C-7B40-4C9C-AE24-6F446F925A9D}"/>
              </a:ext>
            </a:extLst>
          </p:cNvPr>
          <p:cNvSpPr txBox="1"/>
          <p:nvPr/>
        </p:nvSpPr>
        <p:spPr>
          <a:xfrm>
            <a:off x="921124" y="1560225"/>
            <a:ext cx="663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Lato" panose="020B0604020202020204" charset="0"/>
                <a:ea typeface="Century Gothic" charset="0"/>
                <a:cs typeface="Century Gothic" charset="0"/>
              </a:rPr>
              <a:t>Impact</a:t>
            </a:r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08EF011A-B7B6-4735-80E2-EF126341B3F5}"/>
              </a:ext>
            </a:extLst>
          </p:cNvPr>
          <p:cNvSpPr txBox="1"/>
          <p:nvPr/>
        </p:nvSpPr>
        <p:spPr>
          <a:xfrm>
            <a:off x="7560733" y="4302690"/>
            <a:ext cx="1001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Lato" panose="020B0604020202020204" charset="0"/>
                <a:ea typeface="Century Gothic" charset="0"/>
                <a:cs typeface="Century Gothic" charset="0"/>
              </a:rPr>
              <a:t>Probabilité</a:t>
            </a:r>
            <a:endParaRPr lang="fr-FR" sz="1800" dirty="0">
              <a:latin typeface="Lato" panose="020B0604020202020204" charset="0"/>
              <a:ea typeface="Century Gothic" charset="0"/>
              <a:cs typeface="Century Gothic" charset="0"/>
            </a:endParaRPr>
          </a:p>
        </p:txBody>
      </p:sp>
      <p:cxnSp>
        <p:nvCxnSpPr>
          <p:cNvPr id="8" name="Connecteur droit avec flèche 12">
            <a:extLst>
              <a:ext uri="{FF2B5EF4-FFF2-40B4-BE49-F238E27FC236}">
                <a16:creationId xmlns:a16="http://schemas.microsoft.com/office/drawing/2014/main" id="{6CEBA8C7-246E-4EE9-B60B-CCE5A8701357}"/>
              </a:ext>
            </a:extLst>
          </p:cNvPr>
          <p:cNvCxnSpPr>
            <a:cxnSpLocks/>
          </p:cNvCxnSpPr>
          <p:nvPr/>
        </p:nvCxnSpPr>
        <p:spPr>
          <a:xfrm flipV="1">
            <a:off x="1681848" y="1397047"/>
            <a:ext cx="0" cy="3021836"/>
          </a:xfrm>
          <a:prstGeom prst="straightConnector1">
            <a:avLst/>
          </a:prstGeom>
          <a:ln w="76200">
            <a:solidFill>
              <a:srgbClr val="9D2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13">
            <a:extLst>
              <a:ext uri="{FF2B5EF4-FFF2-40B4-BE49-F238E27FC236}">
                <a16:creationId xmlns:a16="http://schemas.microsoft.com/office/drawing/2014/main" id="{51D9DBC8-92F5-493D-B039-71B524325E10}"/>
              </a:ext>
            </a:extLst>
          </p:cNvPr>
          <p:cNvCxnSpPr>
            <a:cxnSpLocks/>
          </p:cNvCxnSpPr>
          <p:nvPr/>
        </p:nvCxnSpPr>
        <p:spPr>
          <a:xfrm>
            <a:off x="1644863" y="4405885"/>
            <a:ext cx="5915870" cy="0"/>
          </a:xfrm>
          <a:prstGeom prst="straightConnector1">
            <a:avLst/>
          </a:prstGeom>
          <a:ln w="76200">
            <a:solidFill>
              <a:srgbClr val="9D2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51;p16">
            <a:extLst>
              <a:ext uri="{FF2B5EF4-FFF2-40B4-BE49-F238E27FC236}">
                <a16:creationId xmlns:a16="http://schemas.microsoft.com/office/drawing/2014/main" id="{5B57322F-A43A-4327-B1B4-49F944AE66FA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bg1"/>
                </a:solidFill>
              </a:rPr>
              <a:t>Étapes du projet</a:t>
            </a:r>
            <a:endParaRPr sz="900" dirty="0">
              <a:solidFill>
                <a:schemeClr val="bg1"/>
              </a:solidFill>
            </a:endParaRPr>
          </a:p>
        </p:txBody>
      </p:sp>
      <p:sp>
        <p:nvSpPr>
          <p:cNvPr id="21" name="Google Shape;152;p16">
            <a:extLst>
              <a:ext uri="{FF2B5EF4-FFF2-40B4-BE49-F238E27FC236}">
                <a16:creationId xmlns:a16="http://schemas.microsoft.com/office/drawing/2014/main" id="{0DC1BEC6-B5DF-4C54-8CCB-315F08680124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Production et soutien 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2" name="Google Shape;153;p16">
            <a:extLst>
              <a:ext uri="{FF2B5EF4-FFF2-40B4-BE49-F238E27FC236}">
                <a16:creationId xmlns:a16="http://schemas.microsoft.com/office/drawing/2014/main" id="{0F812C1B-E3F1-4B69-BAE6-ADFBB5E4E911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Risques et mitigations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3" name="Google Shape;154;p16">
            <a:extLst>
              <a:ext uri="{FF2B5EF4-FFF2-40B4-BE49-F238E27FC236}">
                <a16:creationId xmlns:a16="http://schemas.microsoft.com/office/drawing/2014/main" id="{BDA3DA58-6BDE-46AC-B0BE-C26706450459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>
              <a:alpha val="2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Coûts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4" name="Google Shape;155;p16">
            <a:extLst>
              <a:ext uri="{FF2B5EF4-FFF2-40B4-BE49-F238E27FC236}">
                <a16:creationId xmlns:a16="http://schemas.microsoft.com/office/drawing/2014/main" id="{E42927A9-93F7-4A19-950B-43E406A8907F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Formation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5" name="Google Shape;156;p16">
            <a:extLst>
              <a:ext uri="{FF2B5EF4-FFF2-40B4-BE49-F238E27FC236}">
                <a16:creationId xmlns:a16="http://schemas.microsoft.com/office/drawing/2014/main" id="{94C82326-8DD0-4C24-864F-4361FE027412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Communication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6" name="Google Shape;157;p16">
            <a:extLst>
              <a:ext uri="{FF2B5EF4-FFF2-40B4-BE49-F238E27FC236}">
                <a16:creationId xmlns:a16="http://schemas.microsoft.com/office/drawing/2014/main" id="{B0AA67D2-F903-44BD-B0AC-85176DDF65F2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Structure</a:t>
            </a:r>
            <a:endParaRPr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11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>
            <a:spLocks noGrp="1"/>
          </p:cNvSpPr>
          <p:nvPr>
            <p:ph type="title"/>
          </p:nvPr>
        </p:nvSpPr>
        <p:spPr>
          <a:xfrm>
            <a:off x="727650" y="656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Coûts du projet</a:t>
            </a:r>
            <a:endParaRPr/>
          </a:p>
        </p:txBody>
      </p:sp>
      <p:graphicFrame>
        <p:nvGraphicFramePr>
          <p:cNvPr id="315" name="Google Shape;315;p22"/>
          <p:cNvGraphicFramePr/>
          <p:nvPr>
            <p:extLst>
              <p:ext uri="{D42A27DB-BD31-4B8C-83A1-F6EECF244321}">
                <p14:modId xmlns:p14="http://schemas.microsoft.com/office/powerpoint/2010/main" val="2971347597"/>
              </p:ext>
            </p:extLst>
          </p:nvPr>
        </p:nvGraphicFramePr>
        <p:xfrm>
          <a:off x="1657600" y="1393503"/>
          <a:ext cx="6013979" cy="2243034"/>
        </p:xfrm>
        <a:graphic>
          <a:graphicData uri="http://schemas.openxmlformats.org/drawingml/2006/table">
            <a:tbl>
              <a:tblPr>
                <a:tableStyleId>{766003E1-D845-41A1-A56D-52E4B05077DB}</a:tableStyleId>
              </a:tblPr>
              <a:tblGrid>
                <a:gridCol w="392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914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sz="1200" b="1" dirty="0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0" marR="0" marT="0" marB="0" anchor="ctr">
                    <a:solidFill>
                      <a:srgbClr val="9D2235"/>
                    </a:solidFill>
                  </a:tcPr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bg1"/>
                          </a:solidFill>
                        </a:rPr>
                        <a:t>Montants </a:t>
                      </a:r>
                      <a:endParaRPr sz="1200" b="1" dirty="0">
                        <a:solidFill>
                          <a:schemeClr val="bg1"/>
                        </a:solidFill>
                        <a:latin typeface="Lato" panose="020B0604020202020204" charset="0"/>
                      </a:endParaRPr>
                    </a:p>
                  </a:txBody>
                  <a:tcPr marL="0" marR="0" marT="0" marB="0" anchor="ctr">
                    <a:solidFill>
                      <a:srgbClr val="9D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03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Coût initial d'acquisition du logiciel 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250 000 $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03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>
                          <a:latin typeface="Lato" panose="020B0604020202020204" charset="0"/>
                        </a:rPr>
                        <a:t>Licences annuelles </a:t>
                      </a:r>
                      <a:r>
                        <a:rPr lang="fr" sz="1050">
                          <a:highlight>
                            <a:srgbClr val="FFFFFF"/>
                          </a:highlight>
                          <a:latin typeface="Lato" panose="020B0604020202020204" charset="0"/>
                        </a:rPr>
                        <a:t>(50 utilisateurs)</a:t>
                      </a:r>
                      <a:endParaRPr sz="105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15 000 $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03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Ressources internes*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>
                          <a:latin typeface="Lato" panose="020B0604020202020204" charset="0"/>
                        </a:rPr>
                        <a:t>765 000 $</a:t>
                      </a:r>
                      <a:endParaRPr sz="105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77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Ressources externes**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657 600 $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77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Salle de formation</a:t>
                      </a:r>
                      <a:endParaRPr sz="1050" dirty="0">
                        <a:highlight>
                          <a:srgbClr val="FFFF00"/>
                        </a:highlight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1 000 $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77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Formation </a:t>
                      </a:r>
                      <a:r>
                        <a:rPr lang="fr-CA" sz="1050" dirty="0">
                          <a:latin typeface="Lato" panose="020B0604020202020204" charset="0"/>
                        </a:rPr>
                        <a:t>des utilisateurs de Fruit d’Or </a:t>
                      </a:r>
                      <a:r>
                        <a:rPr lang="fr" sz="1050" dirty="0">
                          <a:latin typeface="Lato" panose="020B0604020202020204" charset="0"/>
                        </a:rPr>
                        <a:t>par un formateur externe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>
                          <a:latin typeface="Lato" panose="020B0604020202020204" charset="0"/>
                        </a:rPr>
                        <a:t>2 400 $</a:t>
                      </a:r>
                      <a:endParaRPr sz="105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77">
                <a:tc>
                  <a:txBody>
                    <a:bodyPr/>
                    <a:lstStyle/>
                    <a:p>
                      <a:pPr marL="89999" lvl="0" indent="0" algn="just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Ordinateurs - Postes pour super usagers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4 500 $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803"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b="1" i="1" dirty="0">
                          <a:latin typeface="Lato" panose="020B0604020202020204" charset="0"/>
                        </a:rPr>
                        <a:t>Total </a:t>
                      </a:r>
                      <a:endParaRPr sz="1050" b="1" i="1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999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" sz="1050" dirty="0">
                          <a:latin typeface="Lato" panose="020B0604020202020204" charset="0"/>
                        </a:rPr>
                        <a:t>1 695 500 $ </a:t>
                      </a:r>
                      <a:endParaRPr sz="1050" dirty="0">
                        <a:latin typeface="Lato" panose="020B060402020202020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Google Shape;151;p16">
            <a:extLst>
              <a:ext uri="{FF2B5EF4-FFF2-40B4-BE49-F238E27FC236}">
                <a16:creationId xmlns:a16="http://schemas.microsoft.com/office/drawing/2014/main" id="{CF42085A-0CCB-4DBD-9403-D27BC8D88500}"/>
              </a:ext>
            </a:extLst>
          </p:cNvPr>
          <p:cNvSpPr/>
          <p:nvPr/>
        </p:nvSpPr>
        <p:spPr>
          <a:xfrm>
            <a:off x="1644863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Étapes du projet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18" name="Google Shape;152;p16">
            <a:extLst>
              <a:ext uri="{FF2B5EF4-FFF2-40B4-BE49-F238E27FC236}">
                <a16:creationId xmlns:a16="http://schemas.microsoft.com/office/drawing/2014/main" id="{521B8C79-26E0-4B72-A752-F37489358E94}"/>
              </a:ext>
            </a:extLst>
          </p:cNvPr>
          <p:cNvSpPr/>
          <p:nvPr/>
        </p:nvSpPr>
        <p:spPr>
          <a:xfrm>
            <a:off x="5193271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Production et soutien 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19" name="Google Shape;153;p16">
            <a:extLst>
              <a:ext uri="{FF2B5EF4-FFF2-40B4-BE49-F238E27FC236}">
                <a16:creationId xmlns:a16="http://schemas.microsoft.com/office/drawing/2014/main" id="{62AF1922-905B-4577-B1C1-DB6995190E0E}"/>
              </a:ext>
            </a:extLst>
          </p:cNvPr>
          <p:cNvSpPr/>
          <p:nvPr/>
        </p:nvSpPr>
        <p:spPr>
          <a:xfrm>
            <a:off x="639303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Risques et mitigations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0" name="Google Shape;154;p16">
            <a:extLst>
              <a:ext uri="{FF2B5EF4-FFF2-40B4-BE49-F238E27FC236}">
                <a16:creationId xmlns:a16="http://schemas.microsoft.com/office/drawing/2014/main" id="{AB479836-FAD5-452A-ADCA-172AC96BD516}"/>
              </a:ext>
            </a:extLst>
          </p:cNvPr>
          <p:cNvSpPr/>
          <p:nvPr/>
        </p:nvSpPr>
        <p:spPr>
          <a:xfrm>
            <a:off x="7592834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Coûts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1" name="Google Shape;155;p16">
            <a:extLst>
              <a:ext uri="{FF2B5EF4-FFF2-40B4-BE49-F238E27FC236}">
                <a16:creationId xmlns:a16="http://schemas.microsoft.com/office/drawing/2014/main" id="{8BEF859E-604F-48FB-A2FB-C37BFD994EB4}"/>
              </a:ext>
            </a:extLst>
          </p:cNvPr>
          <p:cNvSpPr/>
          <p:nvPr/>
        </p:nvSpPr>
        <p:spPr>
          <a:xfrm>
            <a:off x="3993500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Formation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2" name="Google Shape;156;p16">
            <a:extLst>
              <a:ext uri="{FF2B5EF4-FFF2-40B4-BE49-F238E27FC236}">
                <a16:creationId xmlns:a16="http://schemas.microsoft.com/office/drawing/2014/main" id="{636C8B5B-9B4E-4610-90BC-5F72ED27357A}"/>
              </a:ext>
            </a:extLst>
          </p:cNvPr>
          <p:cNvSpPr/>
          <p:nvPr/>
        </p:nvSpPr>
        <p:spPr>
          <a:xfrm>
            <a:off x="2819188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Communication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3" name="Google Shape;157;p16">
            <a:extLst>
              <a:ext uri="{FF2B5EF4-FFF2-40B4-BE49-F238E27FC236}">
                <a16:creationId xmlns:a16="http://schemas.microsoft.com/office/drawing/2014/main" id="{1CCE103B-E76D-4EBC-AE5F-9AEDA61A8F99}"/>
              </a:ext>
            </a:extLst>
          </p:cNvPr>
          <p:cNvSpPr/>
          <p:nvPr/>
        </p:nvSpPr>
        <p:spPr>
          <a:xfrm>
            <a:off x="432175" y="4735775"/>
            <a:ext cx="1008900" cy="322500"/>
          </a:xfrm>
          <a:prstGeom prst="roundRect">
            <a:avLst>
              <a:gd name="adj" fmla="val 16667"/>
            </a:avLst>
          </a:prstGeom>
          <a:solidFill>
            <a:srgbClr val="9D22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bg1"/>
                </a:solidFill>
              </a:rPr>
              <a:t>Structure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72A33-5D5C-425E-9E81-D6E530AC04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10</a:t>
            </a:fld>
            <a:endParaRPr lang="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13FBD-9DB3-41A8-BE7F-866E6A30920F}"/>
              </a:ext>
            </a:extLst>
          </p:cNvPr>
          <p:cNvSpPr/>
          <p:nvPr/>
        </p:nvSpPr>
        <p:spPr>
          <a:xfrm>
            <a:off x="1657600" y="3721576"/>
            <a:ext cx="6013979" cy="746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335" algn="ctr" hangingPunct="0"/>
            <a:r>
              <a:rPr lang="fr-CA" sz="1050" dirty="0">
                <a:latin typeface="Lato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*Ressources internes: 8 h/jour à 75 $/h </a:t>
            </a:r>
          </a:p>
          <a:p>
            <a:pPr marL="13335" algn="ctr" hangingPunct="0"/>
            <a:r>
              <a:rPr lang="fr-CA" sz="1050" dirty="0">
                <a:latin typeface="Lato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**Ressources externes: 8 h/jour à 150 $/h</a:t>
            </a:r>
          </a:p>
          <a:p>
            <a:pPr marL="13335" algn="ctr" hangingPunct="0"/>
            <a:r>
              <a:rPr lang="fr-CA" sz="1100" dirty="0">
                <a:latin typeface="Lato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CA" sz="1050" dirty="0">
              <a:latin typeface="Lato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" algn="ctr" hangingPunct="0"/>
            <a:r>
              <a:rPr lang="fr-CA" sz="1050" dirty="0">
                <a:latin typeface="Lato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Aucun coût concernant les serveurs, car nous proposons d’implémenter une solution de type SaaS.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729450" y="1093850"/>
            <a:ext cx="7688100" cy="8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Des questions?</a:t>
            </a:r>
            <a:endParaRPr dirty="0"/>
          </a:p>
        </p:txBody>
      </p:sp>
      <p:pic>
        <p:nvPicPr>
          <p:cNvPr id="4" name="Google Shape;17;p2">
            <a:extLst>
              <a:ext uri="{FF2B5EF4-FFF2-40B4-BE49-F238E27FC236}">
                <a16:creationId xmlns:a16="http://schemas.microsoft.com/office/drawing/2014/main" id="{B9E40984-1793-42CE-8B4C-DD865511A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6659" b="25494"/>
          <a:stretch/>
        </p:blipFill>
        <p:spPr>
          <a:xfrm>
            <a:off x="6086645" y="4163614"/>
            <a:ext cx="3057355" cy="8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F5287-A31E-4E4F-8AE9-A2CE9954C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11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687391508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703</Words>
  <Application>Microsoft Office PowerPoint</Application>
  <PresentationFormat>On-screen Show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Raleway</vt:lpstr>
      <vt:lpstr>Lato</vt:lpstr>
      <vt:lpstr>Century Gothic</vt:lpstr>
      <vt:lpstr>Streamline</vt:lpstr>
      <vt:lpstr>Projet d’implantation d’un PGI</vt:lpstr>
      <vt:lpstr>Mandat</vt:lpstr>
      <vt:lpstr>Agenda</vt:lpstr>
      <vt:lpstr>Structure du projet</vt:lpstr>
      <vt:lpstr>Étapes du projet</vt:lpstr>
      <vt:lpstr>Communication et gestion du changement</vt:lpstr>
      <vt:lpstr>Formation</vt:lpstr>
      <vt:lpstr>Mise en production et soutien à la production</vt:lpstr>
      <vt:lpstr>Risques et mitigations</vt:lpstr>
      <vt:lpstr>Coûts du projet</vt:lpstr>
      <vt:lpstr>Des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Implantation d’un PGI</dc:title>
  <cp:lastModifiedBy>Gabrielle Violette</cp:lastModifiedBy>
  <cp:revision>31</cp:revision>
  <dcterms:modified xsi:type="dcterms:W3CDTF">2020-06-16T23:33:44Z</dcterms:modified>
</cp:coreProperties>
</file>